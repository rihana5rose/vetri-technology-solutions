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CDF5"/>
    <a:srgbClr val="E15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>
                <a:solidFill>
                  <a:srgbClr val="F8F8FF"/>
                </a:solidFill>
                <a:latin typeface="Segoe UI"/>
              </a:rPr>
              <a:t>MAE (LPA)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 (LPA)</c:v>
                </c:pt>
              </c:strCache>
            </c:strRef>
          </c:tx>
          <c:spPr>
            <a:solidFill>
              <a:srgbClr val="30CDF5"/>
            </a:solidFill>
            <a:ln>
              <a:solidFill>
                <a:srgbClr val="30CDF5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110.11</c:v>
                </c:pt>
                <c:pt idx="1">
                  <c:v>101.28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0CDF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732-40E4-9D66-BAEBE095D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F8F8F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41346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EBCD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>
                <a:solidFill>
                  <a:srgbClr val="F8F8FF"/>
                </a:solidFill>
                <a:latin typeface="Segoe UI"/>
              </a:rPr>
              <a:t>RMSE (LPA)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 (LPA)</c:v>
                </c:pt>
              </c:strCache>
            </c:strRef>
          </c:tx>
          <c:spPr>
            <a:solidFill>
              <a:srgbClr val="E150BE"/>
            </a:solidFill>
            <a:ln>
              <a:solidFill>
                <a:srgbClr val="E150BE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141.26</c:v>
                </c:pt>
                <c:pt idx="1">
                  <c:v>125.44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150B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18C-44C5-9A38-286CDDC2C1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F8F8F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41346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EBCD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>
                <a:solidFill>
                  <a:srgbClr val="F8F8FF"/>
                </a:solidFill>
                <a:latin typeface="Segoe UI"/>
              </a:rPr>
              <a:t>Top IT Job Roles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IT Job Roles</c:v>
                </c:pt>
              </c:strCache>
            </c:strRef>
          </c:tx>
          <c:spPr>
            <a:solidFill>
              <a:srgbClr val="E150BE"/>
            </a:solidFill>
            <a:ln>
              <a:solidFill>
                <a:srgbClr val="E150BE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ML Engineer</c:v>
                </c:pt>
                <c:pt idx="1">
                  <c:v>Data Engineer</c:v>
                </c:pt>
                <c:pt idx="2">
                  <c:v>UI/UX</c:v>
                </c:pt>
                <c:pt idx="3">
                  <c:v>Data Scientist</c:v>
                </c:pt>
                <c:pt idx="4">
                  <c:v>Enterprise Apps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1322</c:v>
                </c:pt>
                <c:pt idx="1">
                  <c:v>1227</c:v>
                </c:pt>
                <c:pt idx="2">
                  <c:v>519</c:v>
                </c:pt>
                <c:pt idx="3">
                  <c:v>317</c:v>
                </c:pt>
                <c:pt idx="4">
                  <c:v>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150B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AA4-4FE5-9EA4-16F3D7651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F8F8F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41346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EBCD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>
                <a:solidFill>
                  <a:srgbClr val="F8F8FF"/>
                </a:solidFill>
                <a:latin typeface="Segoe UI"/>
              </a:rPr>
              <a:t>Top Hiring Locations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Hiring Locations</c:v>
                </c:pt>
              </c:strCache>
            </c:strRef>
          </c:tx>
          <c:spPr>
            <a:solidFill>
              <a:srgbClr val="30CDF5"/>
            </a:solidFill>
            <a:ln>
              <a:solidFill>
                <a:srgbClr val="30CDF5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Bengaluru</c:v>
                </c:pt>
                <c:pt idx="1">
                  <c:v>Hyderabad</c:v>
                </c:pt>
                <c:pt idx="2">
                  <c:v>Chennai</c:v>
                </c:pt>
                <c:pt idx="3">
                  <c:v>Pune</c:v>
                </c:pt>
                <c:pt idx="4">
                  <c:v>Gurugram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</c:v>
                </c:pt>
                <c:pt idx="1">
                  <c:v>1354</c:v>
                </c:pt>
                <c:pt idx="2">
                  <c:v>986</c:v>
                </c:pt>
                <c:pt idx="3">
                  <c:v>703</c:v>
                </c:pt>
                <c:pt idx="4">
                  <c:v>362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0CDF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101-4913-A3F2-954C89588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F8F8F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41346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EBCD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>
                <a:solidFill>
                  <a:srgbClr val="F8F8FF"/>
                </a:solidFill>
                <a:latin typeface="Segoe UI"/>
              </a:rPr>
              <a:t>MAE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30CDF5"/>
            </a:solidFill>
            <a:ln>
              <a:solidFill>
                <a:srgbClr val="30CDF5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110.11</c:v>
                </c:pt>
                <c:pt idx="1">
                  <c:v>101.28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0CDF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880-4ED9-9EBF-8B373B07A4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F8F8F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41346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EBCD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dirty="0">
                <a:solidFill>
                  <a:srgbClr val="F8F8FF"/>
                </a:solidFill>
                <a:latin typeface="Segoe UI"/>
              </a:rPr>
              <a:t>Top</a:t>
            </a:r>
            <a:r>
              <a:rPr lang="en-US" sz="1100" baseline="0" dirty="0">
                <a:solidFill>
                  <a:srgbClr val="F8F8FF"/>
                </a:solidFill>
                <a:latin typeface="Segoe UI"/>
              </a:rPr>
              <a:t> Jobs By Skill Match</a:t>
            </a:r>
            <a:endParaRPr lang="en-US" sz="1100" dirty="0">
              <a:solidFill>
                <a:srgbClr val="F8F8FF"/>
              </a:solidFill>
              <a:latin typeface="Segoe UI"/>
            </a:endParaRP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Jobs by Skill Match</c:v>
                </c:pt>
              </c:strCache>
            </c:strRef>
          </c:tx>
          <c:spPr>
            <a:solidFill>
              <a:srgbClr val="E150BE"/>
            </a:solidFill>
            <a:ln>
              <a:solidFill>
                <a:srgbClr val="E150BE"/>
              </a:solidFill>
            </a:ln>
          </c:spPr>
          <c:invertIfNegative val="1"/>
          <c:dLbls>
            <c:delete val="1"/>
          </c:dLbls>
          <c:cat>
            <c:strRef>
              <c:f>Sheet1!$A$2:$A$10</c:f>
              <c:strCache>
                <c:ptCount val="9"/>
                <c:pt idx="0">
                  <c:v>Enterprise Applications</c:v>
                </c:pt>
                <c:pt idx="1">
                  <c:v>Data Governance</c:v>
                </c:pt>
                <c:pt idx="2">
                  <c:v>Data Analyst</c:v>
                </c:pt>
                <c:pt idx="3">
                  <c:v>Business Analyst</c:v>
                </c:pt>
                <c:pt idx="4">
                  <c:v>Data Architect</c:v>
                </c:pt>
                <c:pt idx="5">
                  <c:v>Business Intelligence</c:v>
                </c:pt>
                <c:pt idx="6">
                  <c:v>Mobile App Developer</c:v>
                </c:pt>
                <c:pt idx="7">
                  <c:v>JavaScript / Web Developer</c:v>
                </c:pt>
                <c:pt idx="8">
                  <c:v>Other IT Role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75</c:v>
                </c:pt>
                <c:pt idx="1">
                  <c:v>70.069999999999993</c:v>
                </c:pt>
                <c:pt idx="2">
                  <c:v>66.66</c:v>
                </c:pt>
                <c:pt idx="3">
                  <c:v>63.39</c:v>
                </c:pt>
                <c:pt idx="4">
                  <c:v>60</c:v>
                </c:pt>
                <c:pt idx="5">
                  <c:v>59.83</c:v>
                </c:pt>
                <c:pt idx="6">
                  <c:v>58.34</c:v>
                </c:pt>
                <c:pt idx="7">
                  <c:v>57.74</c:v>
                </c:pt>
                <c:pt idx="8">
                  <c:v>53.33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150B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27C-46F8-B332-B634E7C670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8F8F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>
            <a:ln>
              <a:solidFill>
                <a:srgbClr val="41346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EBCD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>
                <a:solidFill>
                  <a:srgbClr val="F8F8FF"/>
                </a:solidFill>
                <a:latin typeface="Segoe UI"/>
              </a:rPr>
              <a:t>Jobs by Industry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Jobs by Industry</c:v>
                </c:pt>
              </c:strCache>
            </c:strRef>
          </c:tx>
          <c:spPr>
            <a:solidFill>
              <a:srgbClr val="30CDF5"/>
            </a:solidFill>
            <a:ln>
              <a:solidFill>
                <a:srgbClr val="30CDF5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IT Services</c:v>
                </c:pt>
                <c:pt idx="1">
                  <c:v>Software Dev.</c:v>
                </c:pt>
                <c:pt idx="2">
                  <c:v>Consulting</c:v>
                </c:pt>
                <c:pt idx="3">
                  <c:v>Financial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1977</c:v>
                </c:pt>
                <c:pt idx="1">
                  <c:v>1065</c:v>
                </c:pt>
                <c:pt idx="2">
                  <c:v>713</c:v>
                </c:pt>
                <c:pt idx="3">
                  <c:v>668</c:v>
                </c:pt>
                <c:pt idx="4">
                  <c:v>412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0CDF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FB5-44CD-9528-4659BC6534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F8F8F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41346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EBCD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Matching</a:t>
            </a:r>
            <a:r>
              <a:rPr lang="en-US" sz="1100" baseline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Vs Missing Skills by Target Role</a:t>
            </a: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Matching Skill Count</c:v>
                </c:pt>
              </c:strCache>
            </c:strRef>
          </c:tx>
          <c:spPr>
            <a:solidFill>
              <a:srgbClr val="E150BE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Data Engineer</c:v>
                </c:pt>
                <c:pt idx="1">
                  <c:v>AI Engineer</c:v>
                </c:pt>
                <c:pt idx="2">
                  <c:v>QA Engineer</c:v>
                </c:pt>
                <c:pt idx="3">
                  <c:v>Software Developer</c:v>
                </c:pt>
                <c:pt idx="4">
                  <c:v>Machine Learning Engineer</c:v>
                </c:pt>
                <c:pt idx="5">
                  <c:v>Software Engineer</c:v>
                </c:pt>
                <c:pt idx="6">
                  <c:v>Backend Developer</c:v>
                </c:pt>
                <c:pt idx="7">
                  <c:v>IT Support Engineer</c:v>
                </c:pt>
                <c:pt idx="8">
                  <c:v>Full Stack Developer</c:v>
                </c:pt>
                <c:pt idx="9">
                  <c:v>Frontend Developer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5.52</c:v>
                </c:pt>
                <c:pt idx="1">
                  <c:v>4.43</c:v>
                </c:pt>
                <c:pt idx="2">
                  <c:v>4.3600000000000003</c:v>
                </c:pt>
                <c:pt idx="3">
                  <c:v>4.29</c:v>
                </c:pt>
                <c:pt idx="4">
                  <c:v>4.2699999999999996</c:v>
                </c:pt>
                <c:pt idx="5">
                  <c:v>3.91</c:v>
                </c:pt>
                <c:pt idx="6">
                  <c:v>2.85</c:v>
                </c:pt>
                <c:pt idx="7">
                  <c:v>2.75</c:v>
                </c:pt>
                <c:pt idx="8">
                  <c:v>2.4700000000000002</c:v>
                </c:pt>
                <c:pt idx="9">
                  <c:v>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00-45EE-930D-63C5DEDF49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 Skill Count</c:v>
                </c:pt>
              </c:strCache>
            </c:strRef>
          </c:tx>
          <c:spPr>
            <a:solidFill>
              <a:srgbClr val="30CDF5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Data Engineer</c:v>
                </c:pt>
                <c:pt idx="1">
                  <c:v>AI Engineer</c:v>
                </c:pt>
                <c:pt idx="2">
                  <c:v>QA Engineer</c:v>
                </c:pt>
                <c:pt idx="3">
                  <c:v>Software Developer</c:v>
                </c:pt>
                <c:pt idx="4">
                  <c:v>Machine Learning Engineer</c:v>
                </c:pt>
                <c:pt idx="5">
                  <c:v>Software Engineer</c:v>
                </c:pt>
                <c:pt idx="6">
                  <c:v>Backend Developer</c:v>
                </c:pt>
                <c:pt idx="7">
                  <c:v>IT Support Engineer</c:v>
                </c:pt>
                <c:pt idx="8">
                  <c:v>Full Stack Developer</c:v>
                </c:pt>
                <c:pt idx="9">
                  <c:v>Frontend Developer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4.83</c:v>
                </c:pt>
                <c:pt idx="1">
                  <c:v>4.66</c:v>
                </c:pt>
                <c:pt idx="2">
                  <c:v>7.16</c:v>
                </c:pt>
                <c:pt idx="3">
                  <c:v>6.1</c:v>
                </c:pt>
                <c:pt idx="4">
                  <c:v>5.62</c:v>
                </c:pt>
                <c:pt idx="5">
                  <c:v>5.33</c:v>
                </c:pt>
                <c:pt idx="6">
                  <c:v>4.3</c:v>
                </c:pt>
                <c:pt idx="7">
                  <c:v>5.07</c:v>
                </c:pt>
                <c:pt idx="8">
                  <c:v>6.28</c:v>
                </c:pt>
                <c:pt idx="9">
                  <c:v>4.95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00-45EE-930D-63C5DEDF4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78141792"/>
        <c:axId val="1678138432"/>
      </c:barChart>
      <c:catAx>
        <c:axId val="167814179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678138432"/>
        <c:crosses val="autoZero"/>
        <c:auto val="1"/>
        <c:lblAlgn val="ctr"/>
        <c:lblOffset val="100"/>
        <c:noMultiLvlLbl val="0"/>
      </c:catAx>
      <c:valAx>
        <c:axId val="1678138432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141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822960"/>
            <a:ext cx="73152" cy="73152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822960"/>
            <a:ext cx="73152" cy="73152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822960"/>
            <a:ext cx="73152" cy="73152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81360" y="822960"/>
            <a:ext cx="73152" cy="73152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CDF5"/>
                </a:solidFill>
                <a:latin typeface="Segoe UI"/>
              </a:rPr>
              <a:t>VETRI CONSULTANCY JOB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8F8FF"/>
                </a:solidFill>
                <a:latin typeface="Segoe UI"/>
              </a:rPr>
              <a:t>JOB PORTAL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485D3"/>
                </a:solidFill>
                <a:latin typeface="Segoe UI"/>
              </a:rPr>
              <a:t>AI-Powered Recruitment Analytics, Prediction &amp; Business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EBCDC"/>
                </a:solidFill>
                <a:latin typeface="Segoe UI"/>
              </a:rPr>
              <a:t>Real-time job-market data • Excel • SQL • Python • Machine Learning • Power 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94760"/>
            <a:ext cx="228600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904488"/>
            <a:ext cx="213969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5,591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Real-time Jobs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794760"/>
            <a:ext cx="228600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3904488"/>
            <a:ext cx="213969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1,388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Companies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94760"/>
            <a:ext cx="228600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9632" y="3904488"/>
            <a:ext cx="213969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30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Cities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794760"/>
            <a:ext cx="228600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05672" y="3904488"/>
            <a:ext cx="213969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11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Industries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532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BCDC"/>
                </a:solidFill>
                <a:latin typeface="Segoe UI"/>
              </a:rPr>
              <a:t>Developed by RIHANA FAIROSE  •  Final dataset sourcing reference: 23 August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Final Presentation • 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From raw job listings to business-ready recruitment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53895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WHY THIS PROJECT?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800600" cy="37728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lang="en-US" sz="1450" dirty="0"/>
              <a:t>Collected real time Datasets through a Web Scraping and sourced recent job postings from LinkedIn by focusing on IT Sector dated between 17</a:t>
            </a:r>
            <a:r>
              <a:rPr lang="en-US" sz="1450" baseline="30000" dirty="0"/>
              <a:t>th</a:t>
            </a:r>
            <a:r>
              <a:rPr lang="en-US" sz="1450" dirty="0"/>
              <a:t> August to 23</a:t>
            </a:r>
            <a:r>
              <a:rPr lang="en-US" sz="1450" baseline="30000" dirty="0"/>
              <a:t>rd</a:t>
            </a:r>
            <a:r>
              <a:rPr lang="en-US" sz="1450" dirty="0"/>
              <a:t> August 2026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sz="1450" dirty="0"/>
              <a:t>Build an end-to-end recruitment analytics solution for </a:t>
            </a:r>
            <a:r>
              <a:rPr sz="1450" dirty="0" err="1"/>
              <a:t>Vetri</a:t>
            </a:r>
            <a:r>
              <a:rPr sz="1450" dirty="0"/>
              <a:t> Consultancy</a:t>
            </a:r>
            <a:r>
              <a:rPr lang="en-US" sz="1450" dirty="0"/>
              <a:t> Job Portal</a:t>
            </a:r>
            <a:r>
              <a:rPr sz="1450" dirty="0"/>
              <a:t>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sz="1450" dirty="0"/>
              <a:t>Understand current IT job demand, hiring locations, industries, skills and experience.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sz="1450" dirty="0"/>
              <a:t>Use</a:t>
            </a:r>
            <a:r>
              <a:rPr lang="en-US" sz="1450" dirty="0"/>
              <a:t>d</a:t>
            </a:r>
            <a:r>
              <a:rPr sz="1450" dirty="0"/>
              <a:t> machine learning for salary prediction and candidate shortlist analysis.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sz="1450" dirty="0"/>
              <a:t>Convert analytical results into simple, interactive Power BI dashboards.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sz="1450" dirty="0"/>
              <a:t>Provide practical recommendations for recruiters and job seekers.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53895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PROJECT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874519"/>
            <a:ext cx="214884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984248"/>
            <a:ext cx="200253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5,591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Job listings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874519"/>
            <a:ext cx="214884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88552" y="1984248"/>
            <a:ext cx="200253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1,388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Companies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154680"/>
            <a:ext cx="214884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3264408"/>
            <a:ext cx="200253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30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Cities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154680"/>
            <a:ext cx="214884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88552" y="3264408"/>
            <a:ext cx="200253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11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Industries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80560"/>
            <a:ext cx="45262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BEBCDC"/>
                </a:solidFill>
                <a:latin typeface="Segoe UI"/>
              </a:rPr>
              <a:t>Separate candidate dataset: 1,000  profiles, used only for candidate-oriented analysis and shortlist prediction.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Business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The analysis was designed around practical recruitment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66360" cy="114300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4533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8FF"/>
                </a:solidFill>
                <a:latin typeface="Segoe UI"/>
              </a:rPr>
              <a:t>Which job roles are in highest demand?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166360" cy="114300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4533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8FF"/>
                </a:solidFill>
                <a:latin typeface="Segoe UI"/>
              </a:rPr>
              <a:t>Which cities have the most job openings?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166360" cy="114300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5409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1071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8FF"/>
                </a:solidFill>
                <a:latin typeface="Segoe UI"/>
              </a:rPr>
              <a:t>Which skills are most requested?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5166360" cy="114300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05409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INDUSTRIES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1071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8FF"/>
                </a:solidFill>
                <a:latin typeface="Segoe UI"/>
              </a:rPr>
              <a:t>Which industries are hiring the most?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5166360" cy="114300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562855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SALARY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8FF"/>
                </a:solidFill>
                <a:latin typeface="Segoe UI"/>
              </a:rPr>
              <a:t>What salary information is available for different roles?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166360" cy="114300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562855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91947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8FF"/>
                </a:solidFill>
                <a:latin typeface="Segoe UI"/>
              </a:rPr>
              <a:t>What experience levels are most preferred?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BCDC"/>
                </a:solidFill>
                <a:latin typeface="Segoe UI"/>
              </a:rPr>
              <a:t>The final project combines descriptive analytics, predictive modelling and AI-assisted interpretation.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Dataset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Real-time job-market snapshot collected during 17–23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08760"/>
            <a:ext cx="530352" cy="530352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6362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8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9047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8FF"/>
                </a:solidFill>
                <a:latin typeface="Segoe UI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83080"/>
            <a:ext cx="2724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BCDC"/>
                </a:solidFill>
                <a:latin typeface="Segoe UI"/>
              </a:rPr>
              <a:t>Capture current online IT job listings and retain required recruitment fields.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06040"/>
            <a:ext cx="530352" cy="530352"/>
          </a:xfrm>
          <a:prstGeom prst="ellipse">
            <a:avLst/>
          </a:prstGeom>
          <a:solidFill>
            <a:srgbClr val="30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660904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8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58775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8FF"/>
                </a:solidFill>
                <a:latin typeface="Segoe UI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880360"/>
            <a:ext cx="2724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BCDC"/>
                </a:solidFill>
                <a:latin typeface="Segoe UI"/>
              </a:rPr>
              <a:t>Check fields, duplicates, missing values and source consistency.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03320"/>
            <a:ext cx="530352" cy="53035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58183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8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68503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8FF"/>
                </a:solidFill>
                <a:latin typeface="Segoe UI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977639"/>
            <a:ext cx="2724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BCDC"/>
                </a:solidFill>
                <a:latin typeface="Segoe UI"/>
              </a:rPr>
              <a:t>Create a clean analysis-ready dataset for Excel, SQL, Python and Power BI.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371600"/>
            <a:ext cx="6766560" cy="44805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149961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FINAL JOB DATASET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1874519"/>
            <a:ext cx="182880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5192" y="1984248"/>
            <a:ext cx="168249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5,591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Job listings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1874519"/>
            <a:ext cx="182880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2592" y="1984248"/>
            <a:ext cx="168249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1,388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Companies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874519"/>
            <a:ext cx="182880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79992" y="1984248"/>
            <a:ext cx="168249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30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Cities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3291839"/>
            <a:ext cx="182880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65192" y="3401568"/>
            <a:ext cx="168249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11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Industries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3291839"/>
            <a:ext cx="182880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FFB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22592" y="3401568"/>
            <a:ext cx="168249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13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IT categories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291839"/>
            <a:ext cx="1828800" cy="1051560"/>
          </a:xfrm>
          <a:prstGeom prst="roundRect">
            <a:avLst/>
          </a:prstGeom>
          <a:solidFill>
            <a:srgbClr val="1E1846"/>
          </a:solidFill>
          <a:ln>
            <a:solidFill>
              <a:srgbClr val="F48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9992" y="3401568"/>
            <a:ext cx="1682496" cy="9143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108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Salary-disclosed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892040"/>
            <a:ext cx="6080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EBCDC"/>
                </a:solidFill>
                <a:latin typeface="Segoe UI"/>
              </a:rPr>
              <a:t>Salary values were preserved as missing when not disclosed. Missing salary was not replaced with zero.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Data Preparation &amp;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Cleaning and validation were critical before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9496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59773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E150BE"/>
                </a:solidFill>
                <a:latin typeface="Segoe UI"/>
              </a:rPr>
              <a:t>KEY PREPARATION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6320"/>
            <a:ext cx="5074920" cy="25494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spcAft>
                <a:spcPts val="700"/>
              </a:spcAft>
              <a:buClr>
                <a:schemeClr val="bg1"/>
              </a:buClr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dirty="0"/>
              <a:t>Standardized text and categorical fields.</a:t>
            </a:r>
          </a:p>
          <a:p>
            <a:pPr marL="285750" indent="-285750">
              <a:spcAft>
                <a:spcPts val="700"/>
              </a:spcAft>
              <a:buClr>
                <a:schemeClr val="bg1"/>
              </a:buClr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dirty="0"/>
              <a:t>Checked duplicates and inconsistent values.</a:t>
            </a:r>
          </a:p>
          <a:p>
            <a:pPr marL="285750" indent="-285750">
              <a:spcAft>
                <a:spcPts val="700"/>
              </a:spcAft>
              <a:buClr>
                <a:schemeClr val="bg1"/>
              </a:buClr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dirty="0"/>
              <a:t>Handled blank and 'Not Available' fields carefully.</a:t>
            </a:r>
          </a:p>
          <a:p>
            <a:pPr marL="285750" indent="-285750">
              <a:spcAft>
                <a:spcPts val="700"/>
              </a:spcAft>
              <a:buClr>
                <a:schemeClr val="bg1"/>
              </a:buClr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dirty="0"/>
              <a:t>Converted salary-related fields to numeric types after validating source values.</a:t>
            </a:r>
          </a:p>
          <a:p>
            <a:pPr marL="285750" indent="-285750">
              <a:spcAft>
                <a:spcPts val="700"/>
              </a:spcAft>
              <a:buClr>
                <a:schemeClr val="bg1"/>
              </a:buClr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dirty="0"/>
              <a:t>Kept salary calculations limited to the 108 valid disclosed records.</a:t>
            </a:r>
          </a:p>
          <a:p>
            <a:pPr marL="285750" indent="-285750">
              <a:spcAft>
                <a:spcPts val="700"/>
              </a:spcAft>
              <a:buClr>
                <a:schemeClr val="bg1"/>
              </a:buClr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lang="en-US" dirty="0"/>
              <a:t>Used two separate datasets named as Jobs and Candidates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21208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59773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30CDF5"/>
                </a:solidFill>
                <a:latin typeface="Segoe UI"/>
              </a:rPr>
              <a:t>IMPORTANT DATA-QUALITY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12264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8F8FF"/>
                </a:solidFill>
                <a:latin typeface="Segoe UI"/>
              </a:rPr>
              <a:t>Some salary columns looked blank in Power Query because of data-type handling, even though values existed in the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61588"/>
            <a:ext cx="4617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BEBCDC"/>
                </a:solidFill>
                <a:latin typeface="Segoe UI"/>
              </a:rPr>
              <a:t>The solution was to validate the source first and then convert the salary fields to numeric types. This preserved the real values instead of replacing blanks with artificial zeros.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9204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CDF5"/>
                </a:solidFill>
                <a:latin typeface="Segoe UI"/>
              </a:rPr>
              <a:t>Result: analysis-ready data without creating false salary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Excel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First analytical layer: inspection, cleaning and quick business summaries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65760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769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E150BE"/>
                </a:solidFill>
                <a:latin typeface="Segoe UI"/>
              </a:rPr>
              <a:t>WHAT WAS DONE IN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28082"/>
            <a:ext cx="3291840" cy="269561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dirty="0"/>
              <a:t>Reviewed the raw dataset structure.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dirty="0"/>
              <a:t>Cleaned and standardized fields.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dirty="0"/>
              <a:t>Checked missing and duplicate records.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dirty="0"/>
              <a:t>Prepared salary columns for calculations.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dirty="0"/>
              <a:t>Created quick summaries and pivot-style analysis.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dirty="0"/>
              <a:t>Used Excel as the validation layer before deeper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699516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7740" y="1673352"/>
            <a:ext cx="6629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30CDF5"/>
                </a:solidFill>
                <a:latin typeface="Segoe UI"/>
              </a:rPr>
              <a:t>EXCEL → NEXT STAGE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240280"/>
            <a:ext cx="132588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5192" y="2350008"/>
            <a:ext cx="117957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Raw data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EBCDC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240280"/>
            <a:ext cx="132588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350008"/>
            <a:ext cx="117957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Clean data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Standardize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EBCDC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240280"/>
            <a:ext cx="132588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2350008"/>
            <a:ext cx="117957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Analysis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Summarize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EBCDC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240280"/>
            <a:ext cx="1325880" cy="114300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65792" y="2350008"/>
            <a:ext cx="1179576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Ready data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151376"/>
            <a:ext cx="5989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8F8FF"/>
                </a:solidFill>
                <a:latin typeface="Segoe UI"/>
              </a:rPr>
              <a:t>This stage reduced downstream errors and made the same prepared data usable across SQL, Python and Power BI.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Structured business questions were answered using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67512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" y="1645920"/>
            <a:ext cx="6309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30CDF5"/>
                </a:solidFill>
                <a:latin typeface="Segoe UI"/>
              </a:rPr>
              <a:t>SQL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" y="2271827"/>
            <a:ext cx="6172200" cy="257564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dirty="0"/>
              <a:t>Imported the cleaned job data into a structured database.</a:t>
            </a:r>
            <a:endParaRPr lang="en-US" dirty="0"/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lang="en-IN" dirty="0"/>
              <a:t>Created the Database and the Tables to import the Dataset.</a:t>
            </a:r>
            <a:endParaRPr dirty="0"/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dirty="0"/>
              <a:t>Used SELECT, WHERE, GROUP BY, ORDER BY and aggregate functions.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dirty="0"/>
              <a:t>Answered the six required business questions.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dirty="0"/>
              <a:t>Aggregated skills to identify the most requested technologies.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500">
                <a:solidFill>
                  <a:srgbClr val="F8F8FF"/>
                </a:solidFill>
                <a:latin typeface="Segoe UI"/>
              </a:defRPr>
            </a:pPr>
            <a:r>
              <a:rPr dirty="0"/>
              <a:t>Used SQL results as a validation point for dashboard findings.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325880"/>
            <a:ext cx="393192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16459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E150BE"/>
                </a:solidFill>
                <a:latin typeface="Segoe UI"/>
              </a:rPr>
              <a:t>SQL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271827"/>
            <a:ext cx="3429000" cy="201850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600">
                <a:solidFill>
                  <a:srgbClr val="F8F8FF"/>
                </a:solidFill>
                <a:latin typeface="Segoe UI"/>
              </a:defRPr>
            </a:pPr>
            <a:r>
              <a:rPr dirty="0"/>
              <a:t>Top roles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600">
                <a:solidFill>
                  <a:srgbClr val="F8F8FF"/>
                </a:solidFill>
                <a:latin typeface="Segoe UI"/>
              </a:defRPr>
            </a:pPr>
            <a:r>
              <a:rPr dirty="0"/>
              <a:t>Top hiring locations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600">
                <a:solidFill>
                  <a:srgbClr val="F8F8FF"/>
                </a:solidFill>
                <a:latin typeface="Segoe UI"/>
              </a:defRPr>
            </a:pPr>
            <a:r>
              <a:rPr dirty="0"/>
              <a:t>Top skills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600">
                <a:solidFill>
                  <a:srgbClr val="F8F8FF"/>
                </a:solidFill>
                <a:latin typeface="Segoe UI"/>
              </a:defRPr>
            </a:pPr>
            <a:r>
              <a:rPr dirty="0"/>
              <a:t>Top industries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600">
                <a:solidFill>
                  <a:srgbClr val="F8F8FF"/>
                </a:solidFill>
                <a:latin typeface="Segoe UI"/>
              </a:defRPr>
            </a:pPr>
            <a:r>
              <a:rPr dirty="0"/>
              <a:t>Salary analysis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600">
                <a:solidFill>
                  <a:srgbClr val="F8F8FF"/>
                </a:solidFill>
                <a:latin typeface="Segoe UI"/>
              </a:defRPr>
            </a:pPr>
            <a:r>
              <a:rPr dirty="0"/>
              <a:t>Experience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Python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Python was used for deeper analysis, validation and visual exploration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749039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53895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LIBRARIES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154680" cy="59436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938528"/>
            <a:ext cx="300837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Pandas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Data /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51760"/>
            <a:ext cx="3154680" cy="59436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761488"/>
            <a:ext cx="300837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NumPy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Data /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3154680" cy="59436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584448"/>
            <a:ext cx="300837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Matplotlib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Data /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3154680" cy="59436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407408"/>
            <a:ext cx="300837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Scikit-learn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Data /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325880"/>
            <a:ext cx="685800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152704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30CDF5"/>
                </a:solidFill>
                <a:latin typeface="Segoe UI"/>
              </a:rPr>
              <a:t>WHAT PYTHON HELPED US DISCOVER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107111"/>
            <a:ext cx="6263640" cy="257564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Distribution of job roles, locations and industries.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Most requested skills and technology combinations.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Experience and education patterns.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Salary availability and salary-related distributions.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Applicant-count patterns and other job-level fields.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5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Prepared features and results for machine learning.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Machine Learning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Prediction was used as an analytical aid, not as a guaranteed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53895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E150BE"/>
                </a:solidFill>
                <a:latin typeface="Segoe UI"/>
              </a:rPr>
              <a:t>SALARY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0CDF5"/>
                </a:solidFill>
                <a:latin typeface="Segoe UI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709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F8F8FF"/>
                </a:solidFill>
                <a:latin typeface="Segoe UI"/>
              </a:rPr>
              <a:t>Estimate salary using available job attributes such as experience, role/category and other model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0CDF5"/>
                </a:solidFill>
                <a:latin typeface="Segoe UI"/>
              </a:rPr>
              <a:t>Models compared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09160" cy="64376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Linear Regression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Random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453895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CANDIDATE SHORTLIST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50BE"/>
                </a:solidFill>
                <a:latin typeface="Segoe UI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4709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F8F8FF"/>
                </a:solidFill>
                <a:latin typeface="Segoe UI"/>
              </a:rPr>
              <a:t>Estimate whether a candidate is likely to be shortlisted using candidate attributes.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E150BE"/>
                </a:solidFill>
                <a:latin typeface="Segoe UI"/>
              </a:rPr>
              <a:t>Important caution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709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BEBCDC"/>
                </a:solidFill>
                <a:latin typeface="Segoe UI"/>
              </a:rPr>
              <a:t>The candidate data is </a:t>
            </a:r>
            <a:r>
              <a:rPr lang="en-US" sz="1400" dirty="0" err="1">
                <a:solidFill>
                  <a:srgbClr val="BEBCDC"/>
                </a:solidFill>
                <a:latin typeface="Segoe UI"/>
              </a:rPr>
              <a:t>seperate</a:t>
            </a:r>
            <a:r>
              <a:rPr sz="1400" b="0" dirty="0">
                <a:solidFill>
                  <a:srgbClr val="BEBCDC"/>
                </a:solidFill>
                <a:latin typeface="Segoe UI"/>
              </a:rPr>
              <a:t> and highly imbalanced, so accuracy alone is not enough to judge model quality.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Salary Prediction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Model comparison on the valid salary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17320"/>
          <a:ext cx="5394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4173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828800" y="5166360"/>
            <a:ext cx="8503920" cy="8229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529437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7030A0"/>
                </a:solidFill>
                <a:latin typeface="Segoe UI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8736" y="5513832"/>
            <a:ext cx="81015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8F8FF"/>
                </a:solidFill>
                <a:latin typeface="Segoe UI"/>
              </a:rPr>
              <a:t>Random Forest performed better than Linear Regression on the tested salary model, but R² = 0.17 means predictive explanatory power is still limited.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Candidate Shortlist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3935693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dirty="0">
                <a:solidFill>
                  <a:srgbClr val="BEBCDC"/>
                </a:solidFill>
                <a:latin typeface="Segoe UI"/>
              </a:rPr>
              <a:t>Candidate analysis used a separate 1,000-profile 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2148840" cy="109728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27048"/>
            <a:ext cx="200253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1,000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Candidate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417320"/>
            <a:ext cx="2148840" cy="109728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27832" y="1527048"/>
            <a:ext cx="200253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983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Shortlisted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417320"/>
            <a:ext cx="2148840" cy="109728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05272" y="1527048"/>
            <a:ext cx="200253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17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Not shortlisted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417320"/>
            <a:ext cx="2148840" cy="109728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1527048"/>
            <a:ext cx="200253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96%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88920"/>
            <a:ext cx="5212080" cy="26974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2916936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MODEL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4709160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F8F8FF"/>
                </a:solidFill>
                <a:latin typeface="Segoe UI"/>
              </a:defRPr>
            </a:pPr>
            <a:r>
              <a:t>Accuracy was high because the classes are strongly imbalanced.</a:t>
            </a:r>
          </a:p>
          <a:p>
            <a:pPr>
              <a:spcAft>
                <a:spcPts val="700"/>
              </a:spcAft>
              <a:defRPr sz="1350">
                <a:solidFill>
                  <a:srgbClr val="F8F8FF"/>
                </a:solidFill>
                <a:latin typeface="Segoe UI"/>
              </a:defRPr>
            </a:pPr>
            <a:r>
              <a:t>Precision, recall and F1 were much lower and were retained for a more honest evaluation.</a:t>
            </a:r>
          </a:p>
          <a:p>
            <a:pPr>
              <a:spcAft>
                <a:spcPts val="700"/>
              </a:spcAft>
              <a:defRPr sz="1350">
                <a:solidFill>
                  <a:srgbClr val="F8F8FF"/>
                </a:solidFill>
                <a:latin typeface="Segoe UI"/>
              </a:defRPr>
            </a:pPr>
            <a:r>
              <a:t>The output is an analytical demonstration, not real recruitment performance.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88920"/>
            <a:ext cx="5074920" cy="26974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916936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PRESENTATION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29000"/>
            <a:ext cx="4526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F8F8FF"/>
                </a:solidFill>
                <a:latin typeface="Segoe UI"/>
              </a:rPr>
              <a:t>“I used multiple evaluation metrics because the candidate </a:t>
            </a:r>
            <a:r>
              <a:rPr lang="en-US" sz="1500" b="1" dirty="0">
                <a:solidFill>
                  <a:srgbClr val="F8F8FF"/>
                </a:solidFill>
                <a:latin typeface="Segoe UI"/>
              </a:rPr>
              <a:t>dataset </a:t>
            </a:r>
            <a:r>
              <a:rPr sz="1500" b="1" dirty="0">
                <a:solidFill>
                  <a:srgbClr val="F8F8FF"/>
                </a:solidFill>
                <a:latin typeface="Segoe UI"/>
              </a:rPr>
              <a:t>labels are highly imbalanced. I did not treat the 96% accuracy as proof of a strong real-world hiring model.”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Power BI Dashboard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Three main analytical dashboards plus supporting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29000" cy="31089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3677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EXECUTIVE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8FF"/>
                </a:solidFill>
                <a:latin typeface="Segoe UI"/>
              </a:rPr>
              <a:t>Current market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BCDC"/>
                </a:solidFill>
                <a:latin typeface="Segoe UI"/>
              </a:rPr>
              <a:t>Jobs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150BE"/>
                </a:solidFill>
                <a:latin typeface="Segoe UI"/>
              </a:rPr>
              <a:t>Dashboard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08760"/>
            <a:ext cx="3429000" cy="31089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63677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PREDICTIVE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10312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8FF"/>
                </a:solidFill>
                <a:latin typeface="Segoe UI"/>
              </a:rPr>
              <a:t>Salary + candidate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2608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BCDC"/>
                </a:solidFill>
                <a:latin typeface="Segoe UI"/>
              </a:rPr>
              <a:t>Jobs + Candidate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840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0CDF5"/>
                </a:solidFill>
                <a:latin typeface="Segoe UI"/>
              </a:rPr>
              <a:t>Dashboard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508760"/>
            <a:ext cx="3429000" cy="31089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636776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7030A0"/>
                </a:solidFill>
                <a:latin typeface="Segoe UI"/>
              </a:rPr>
              <a:t>AI INSIGHTS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8FF"/>
                </a:solidFill>
                <a:latin typeface="Segoe UI"/>
              </a:rPr>
              <a:t>Skills, demand &amp; opportunity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2608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BCDC"/>
                </a:solidFill>
                <a:latin typeface="Segoe UI"/>
              </a:rPr>
              <a:t>Jobs + Candidate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40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30A0"/>
                </a:solidFill>
                <a:latin typeface="Segoe UI"/>
              </a:rPr>
              <a:t>Dashboard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8FF"/>
                </a:solidFill>
                <a:latin typeface="Segoe UI"/>
              </a:rPr>
              <a:t>Supporting pages: Landing Page • Challenges Faced &amp; Recommendations • 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A single-page view of the current IT job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5,591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Total Jobs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30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Total Cities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1,388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Total 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1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239K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Applicant Count*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85800" y="2560320"/>
          <a:ext cx="5303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172200" y="2560320"/>
          <a:ext cx="5303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EBCDC"/>
                </a:solidFill>
                <a:latin typeface="Segoe UI"/>
              </a:rPr>
              <a:t>*Applicant counts are portal-reported engagement totals, not unique applicants.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Predictive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Salary prediction and candidate prediction in one compact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108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Salary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241.78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Average Salary (LPA)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250.00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Median Salary (LPA)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325880"/>
            <a:ext cx="2514600" cy="960120"/>
          </a:xfrm>
          <a:prstGeom prst="roundRect">
            <a:avLst/>
          </a:prstGeom>
          <a:solidFill>
            <a:srgbClr val="1E1846"/>
          </a:solidFill>
          <a:ln>
            <a:solidFill>
              <a:srgbClr val="5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1" y="1435607"/>
            <a:ext cx="2368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8FF"/>
                </a:solidFill>
                <a:latin typeface="Segoe UI"/>
              </a:rPr>
              <a:t>Random Forest</a:t>
            </a:r>
          </a:p>
          <a:p>
            <a:pPr algn="ctr"/>
            <a:r>
              <a:rPr sz="950">
                <a:solidFill>
                  <a:srgbClr val="BEBCDC"/>
                </a:solidFill>
                <a:latin typeface="Segoe UI"/>
              </a:rPr>
              <a:t>Best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60320"/>
            <a:ext cx="5303520" cy="278892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688336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SALARY MODEL PERFORMANCE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914400" y="2971800"/>
          <a:ext cx="48006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2560320"/>
            <a:ext cx="5303520" cy="278892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688336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CANDIDATE SHORTLIST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2461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8F8FF"/>
                </a:solidFill>
                <a:latin typeface="Segoe UI"/>
              </a:rPr>
              <a:t>983 shortlisted  •  17 not shortlisted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69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BEBCDC"/>
                </a:solidFill>
                <a:latin typeface="Segoe UI"/>
              </a:rPr>
              <a:t>96% accuracy — interpreted with precision, recall and F1 because of class imbalance.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8F8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 Insights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BEBCD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Translate the data into simple career and recruitment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0CDF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23342"/>
              </p:ext>
            </p:extLst>
          </p:nvPr>
        </p:nvGraphicFramePr>
        <p:xfrm>
          <a:off x="685800" y="1417320"/>
          <a:ext cx="53492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417320"/>
            <a:ext cx="5074920" cy="42519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545336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0CDF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AI-ASSISTED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526280" cy="355315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350">
                <a:solidFill>
                  <a:srgbClr val="F8F8FF"/>
                </a:solidFill>
                <a:latin typeface="Segoe UI"/>
              </a:defRPr>
            </a:pPr>
            <a:r>
              <a:rPr lang="en-US" sz="1400" dirty="0"/>
              <a:t>High-match opportunities indicate strong alignment between candidate skills and job requirements.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8F8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8F8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350">
                <a:solidFill>
                  <a:srgbClr val="F8F8FF"/>
                </a:solidFill>
                <a:latin typeface="Segoe UI"/>
              </a:defRPr>
            </a:pPr>
            <a:r>
              <a:rPr lang="en-US" sz="1400" dirty="0"/>
              <a:t>Skill gaps highlight areas where candidates may need additional training or upskilling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8F8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350">
                <a:solidFill>
                  <a:srgbClr val="F8F8FF"/>
                </a:solidFill>
                <a:latin typeface="Segoe UI"/>
              </a:defRPr>
            </a:pPr>
            <a:r>
              <a:rPr lang="en-US" sz="1400" dirty="0"/>
              <a:t>Matching and missing skill patterns vary across target roles, helping identify roles with stronger or weaker candidate readiness.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8F8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350">
                <a:solidFill>
                  <a:srgbClr val="F8F8FF"/>
                </a:solidFill>
                <a:latin typeface="Segoe UI"/>
              </a:defRPr>
            </a:pPr>
            <a:r>
              <a:rPr lang="en-US" sz="1400" dirty="0"/>
              <a:t>Experience-level analysis helps identify opportunities where candidate profiles are better aligned with job requirements.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8F8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BEBCD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What the current job-market snapshot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1732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417320"/>
            <a:ext cx="5166360" cy="420624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4533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72000" cy="35246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IT Services &amp; Technology has the largest job volume.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Machine Learning Engineer and Data Engineer are the leading job roles.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Bengaluru has the highest concentration of listings in the snapshot.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Senior / Lead is the largest experience category.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40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Bachelor’s degree is the most common disclosed education level.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56735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Matching &amp; Skill Gap Insights</a:t>
            </a:r>
            <a:endParaRPr sz="27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3411511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5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Candidate-job compatibility and skill-gap analysis</a:t>
            </a:r>
            <a:endParaRPr sz="115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66360" cy="420624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4533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TALENT-SIDE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37666"/>
            <a:ext cx="4572000" cy="316554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system compares candidate skills with the skills required for jobs.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higher match score means the candidate is a better fit for the job.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Missing skills show what the candidate may need to learn or improve.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Different job roles have different skill gaps.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Candidate experience is also compared with the experience required for the job.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5164ED2-9B5D-653E-2BDD-B0C02F95F3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55722"/>
              </p:ext>
            </p:extLst>
          </p:nvPr>
        </p:nvGraphicFramePr>
        <p:xfrm>
          <a:off x="553721" y="1256453"/>
          <a:ext cx="5344160" cy="4367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Challenges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Problems encountered during development and how they were handled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49240" cy="12801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53895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SALARY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F8F8FF"/>
                </a:solidFill>
                <a:latin typeface="Segoe UI"/>
              </a:rPr>
              <a:t>Power Query initially displayed salary values as blank/text.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305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BEBCDC"/>
                </a:solidFill>
                <a:latin typeface="Segoe UI"/>
              </a:rPr>
              <a:t>Response: Validated source values and converted salary fields to numeric types.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349240" cy="12801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53895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MISSING SALARIES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737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F8F8FF"/>
                </a:solidFill>
                <a:latin typeface="Segoe UI"/>
              </a:rPr>
              <a:t>Most listings did not disclose salary.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1305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BEBCDC"/>
                </a:solidFill>
                <a:latin typeface="Segoe UI"/>
              </a:rPr>
              <a:t>Response: Used only 108 valid salary records; did not replace missing salary with zero.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5349240" cy="12801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054096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SHORT COLLECTION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337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F8F8FF"/>
                </a:solidFill>
                <a:latin typeface="Segoe UI"/>
              </a:rPr>
              <a:t>Only one week of data was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307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BEBCDC"/>
                </a:solidFill>
                <a:latin typeface="Segoe UI"/>
              </a:rPr>
              <a:t>Response: Did not fabricate a long-term forecast.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26080"/>
            <a:ext cx="5349240" cy="12801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054096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MIXED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37560"/>
            <a:ext cx="493776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dirty="0">
                <a:solidFill>
                  <a:srgbClr val="F8F8FF"/>
                </a:solidFill>
                <a:latin typeface="Segoe UI"/>
              </a:rPr>
              <a:t>Real jobs </a:t>
            </a:r>
            <a:r>
              <a:rPr lang="en-US" sz="1080" dirty="0">
                <a:solidFill>
                  <a:srgbClr val="F8F8FF"/>
                </a:solidFill>
                <a:latin typeface="Segoe UI"/>
              </a:rPr>
              <a:t>and </a:t>
            </a:r>
            <a:r>
              <a:rPr sz="1080" b="0" dirty="0">
                <a:solidFill>
                  <a:srgbClr val="F8F8FF"/>
                </a:solidFill>
                <a:latin typeface="Segoe UI"/>
              </a:rPr>
              <a:t> candidates </a:t>
            </a:r>
            <a:r>
              <a:rPr lang="en-US" sz="1080" b="0" dirty="0">
                <a:solidFill>
                  <a:srgbClr val="F8F8FF"/>
                </a:solidFill>
                <a:latin typeface="Segoe UI"/>
              </a:rPr>
              <a:t>dataset </a:t>
            </a:r>
            <a:r>
              <a:rPr sz="1080" b="0" dirty="0">
                <a:solidFill>
                  <a:srgbClr val="F8F8FF"/>
                </a:solidFill>
                <a:latin typeface="Segoe UI"/>
              </a:rPr>
              <a:t>serve different purposes.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7307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BEBCDC"/>
                </a:solidFill>
                <a:latin typeface="Segoe UI"/>
              </a:rPr>
              <a:t>Response: Kept them separate; no artificial Job ID relationship.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26280"/>
            <a:ext cx="5349240" cy="12801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654296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CLASS IMBALANCE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937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F8F8FF"/>
                </a:solidFill>
                <a:latin typeface="Segoe UI"/>
              </a:rPr>
              <a:t>983 shortlisted vs 17 not shortlisted.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3309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BEBCDC"/>
                </a:solidFill>
                <a:latin typeface="Segoe UI"/>
              </a:rPr>
              <a:t>Response: Used multiple metrics, not accuracy alone.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26280"/>
            <a:ext cx="5349240" cy="128016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654296"/>
            <a:ext cx="4983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CANVAS 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937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F8F8FF"/>
                </a:solidFill>
                <a:latin typeface="Segoe UI"/>
              </a:rPr>
              <a:t>Limited Power BI page space.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3309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BEBCDC"/>
                </a:solidFill>
                <a:latin typeface="Segoe UI"/>
              </a:rPr>
              <a:t>Response: Combined salary and candidate prediction in a mixed layout.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F"/>
                </a:solidFill>
                <a:latin typeface="Segoe UI"/>
              </a:rPr>
              <a:t>Recommendations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BCDC"/>
                </a:solidFill>
                <a:latin typeface="Segoe UI"/>
              </a:rPr>
              <a:t>Turning the analysis into practical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30CDF5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9496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53895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RECRUITMENT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8708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lang="en-US" sz="1500" dirty="0"/>
              <a:t>Prioritize Machine Learning, Python, SQL and AI skill pipelines.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lang="en-US" sz="1500" dirty="0"/>
              <a:t>Strengthen recruitment campaigns in Bengaluru, Hyderabad and Chennai.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lang="en-US" sz="1500" dirty="0"/>
              <a:t>Maintain targeted pipelines for Senior / Lead and entry-level talent.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lang="en-US" sz="1500" dirty="0"/>
              <a:t>Use disclosed salary data for role-specific benchmarking.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lang="en-US" sz="1500" dirty="0"/>
              <a:t>Use applicant counts as an engagement indicator, not a unique-candidate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212080" cy="452628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30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0CDF5"/>
                </a:solidFill>
                <a:latin typeface="Segoe UI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709160" cy="317837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Collect job snapshots continuously for genuine time-series forecasting.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Increase salary coverage with additional sources.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Replac</a:t>
            </a:r>
            <a:r>
              <a:rPr lang="en-US" sz="1500" dirty="0"/>
              <a:t>e</a:t>
            </a:r>
            <a:r>
              <a:rPr sz="1500" dirty="0"/>
              <a:t> candidate labels with real application outcomes.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Improve candidate classification with balanced real-world outcomes.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q"/>
              <a:defRPr sz="1360">
                <a:solidFill>
                  <a:srgbClr val="F8F8FF"/>
                </a:solidFill>
                <a:latin typeface="Segoe UI"/>
              </a:defRPr>
            </a:pPr>
            <a:r>
              <a:rPr sz="1500" dirty="0"/>
              <a:t>Automate the data-to-Power BI refresh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Rihana Fairose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640080"/>
            <a:ext cx="3657600" cy="3657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E1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0CDF5"/>
                </a:solidFill>
                <a:latin typeface="Segoe UI"/>
              </a:rPr>
              <a:t>VETRI CONSULTANCY JOB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8F8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85D3"/>
                </a:solidFill>
                <a:latin typeface="Segoe UI"/>
              </a:rPr>
              <a:t>Job Portal Analytics — Data-driven insights for smarter recruitment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154680"/>
            <a:ext cx="10149840" cy="1691640"/>
          </a:xfrm>
          <a:prstGeom prst="roundRect">
            <a:avLst/>
          </a:prstGeom>
          <a:solidFill>
            <a:srgbClr val="1E1846"/>
          </a:solidFill>
          <a:ln w="15240">
            <a:solidFill>
              <a:srgbClr val="E1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282696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50BE"/>
                </a:solidFill>
                <a:latin typeface="Segoe U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703320"/>
            <a:ext cx="9509760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F8F8FF"/>
                </a:solidFill>
                <a:latin typeface="Segoe UI"/>
              </a:defRPr>
            </a:pPr>
            <a:r>
              <a:t>Understand job demand • Identify top skills and locations • Use prediction carefully • Turn insights into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949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8FF"/>
                </a:solidFill>
                <a:latin typeface="Segoe UI"/>
              </a:rPr>
              <a:t>Developed by RIHANA FAIROSE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8064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EBCDC"/>
                </a:solidFill>
                <a:latin typeface="Segoe UI"/>
              </a:rPr>
              <a:t>Real-time project • Dataset sourcing / refresh reference: 23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EBCDC"/>
                </a:solidFill>
                <a:latin typeface="Segoe UI"/>
              </a:rPr>
              <a:t>Vetri Consultancy Job Portal • Final Presentation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1812</Words>
  <Application>Microsoft Office PowerPoint</Application>
  <PresentationFormat>Widescreen</PresentationFormat>
  <Paragraphs>324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Vetri Consultancy Job Portal Analytics – Final Presentation</dc:title>
  <dc:subject>End-to-end recruitment analytics project</dc:subject>
  <dc:creator>Rihana Fairose</dc:creator>
  <cp:keywords>Excel, SQL, Python, Machine Learning, Power BI, Job Portal Analytics</cp:keywords>
  <dc:description>Prepared from the final project documentation and dashboard results.</dc:description>
  <cp:lastModifiedBy>RIhana Fairose</cp:lastModifiedBy>
  <cp:revision>32</cp:revision>
  <dcterms:created xsi:type="dcterms:W3CDTF">2013-01-27T09:14:16Z</dcterms:created>
  <dcterms:modified xsi:type="dcterms:W3CDTF">2026-08-28T07:19:44Z</dcterms:modified>
  <cp:category/>
</cp:coreProperties>
</file>